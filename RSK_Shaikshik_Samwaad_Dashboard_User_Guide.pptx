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80160" y="1645920"/>
            <a:ext cx="16459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92024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</a:defRPr>
            </a:pPr>
            <a:r>
              <a:t>RAJYA SHIKSHA KENDRA &amp; PEEPUL • MP STATE EDUCATION ANALYTICS</a:t>
            </a:r>
          </a:p>
          <a:p>
            <a:pPr>
              <a:defRPr sz="2800" b="1">
                <a:solidFill>
                  <a:srgbClr val="FFFFFF"/>
                </a:solidFill>
              </a:defRPr>
            </a:pPr>
            <a:r>
              <a:t>Shaikshik Samwaad Master Executive Studio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A User, Navigation &amp; Decision-Making Reference Guide for State Leadership</a:t>
            </a:r>
          </a:p>
          <a:p>
            <a:br/>
            <a:pPr>
              <a:defRPr sz="1100">
                <a:solidFill>
                  <a:srgbClr val="94A3B8"/>
                </a:solidFill>
              </a:defRPr>
            </a:pPr>
            <a:r>
              <a:t>Independent reference manual detailing dashboard navigation, chart interpretations, diagnostic psychometrics, and data-driven governance protocols.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663440"/>
            <a:ext cx="9601200" cy="109728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80060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EA5E9"/>
                </a:solidFill>
              </a:defRPr>
            </a:pPr>
            <a:r>
              <a:t>CADRE SCOPE</a:t>
            </a:r>
          </a:p>
          <a:p>
            <a:pPr>
              <a:defRPr sz="850">
                <a:solidFill>
                  <a:srgbClr val="F1F5F9"/>
                </a:solidFill>
              </a:defRPr>
            </a:pPr>
            <a:r>
              <a:t>68,427 Middle School Teachers across 52 Educational Districts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480060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EA5E9"/>
                </a:solidFill>
              </a:defRPr>
            </a:pPr>
            <a:r>
              <a:t>REPORTING CYCLES</a:t>
            </a:r>
          </a:p>
          <a:p>
            <a:pPr>
              <a:defRPr sz="850">
                <a:solidFill>
                  <a:srgbClr val="F1F5F9"/>
                </a:solidFill>
              </a:defRPr>
            </a:pPr>
            <a:r>
              <a:t>August 2026, September 2026 &amp; Consolidated Statewide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80060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0EA5E9"/>
                </a:solidFill>
              </a:defRPr>
            </a:pPr>
            <a:r>
              <a:t>INTENDED AUDIENCE</a:t>
            </a:r>
          </a:p>
          <a:p>
            <a:pPr>
              <a:defRPr sz="850">
                <a:solidFill>
                  <a:srgbClr val="F1F5F9"/>
                </a:solidFill>
              </a:defRPr>
            </a:pPr>
            <a:r>
              <a:t>RSK Directorate, Joint Directors, DPCs, APCs, BEOs &amp; Mentors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EXECUTIVE CONTEXT</a:t>
            </a:r>
          </a:p>
          <a:p>
            <a:pPr>
              <a:defRPr sz="1700" b="1">
                <a:solidFill>
                  <a:srgbClr val="0F172A"/>
                </a:solidFill>
              </a:defRPr>
            </a:pPr>
            <a:r>
              <a:t>Platform Foundation: Core Purpose, Access &amp; Verified State Reach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411480"/>
            <a:ext cx="1036015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50" b="1">
                <a:solidFill>
                  <a:srgbClr val="334155"/>
                </a:solidFill>
              </a:defRPr>
            </a:pPr>
            <a:r>
              <a:t>02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155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8523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17320"/>
            <a:ext cx="482803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WHAT IS THE PLATFORM?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A single-screen interactive intelligence platform monitoring teacher professional learning across all 52 educational districts of Madhya Pradesh. It bridges administrative attendance logs with teacher psychometric and pedagogical survey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234440"/>
            <a:ext cx="528523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20"/>
            <a:ext cx="482803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WHO USES IT &amp; HOW TO ACCESS IT?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Built for RSK directors, Joint Directors, District Project Coordinators (DPCs), BEOs, and academic resource teams. It runs locally as a standalone file (index.html) in any modern browser without servers or plugins.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46120"/>
            <a:ext cx="528523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429000"/>
            <a:ext cx="482803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WHY DOES IT EXIST?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To move beyond raw headcounts. It evaluates whether teachers actively understand constructivist classroom practices, what misconceptions persist, and where district administrative support is needed most.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46120"/>
            <a:ext cx="5285232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29000"/>
            <a:ext cx="4828032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WHEN IS THE DATA COLLECTED?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Covers the dual implementation cycles of August and September 2026, tracking cumulative reach, recurring monthly attendance, facilitator retention, and district improvement trajectories.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10728655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04688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SANCTIONED CADRE</a:t>
            </a:r>
          </a:p>
          <a:p>
            <a:pPr>
              <a:defRPr sz="1700" b="1">
                <a:solidFill>
                  <a:srgbClr val="0D9488"/>
                </a:solidFill>
              </a:defRPr>
            </a:pPr>
            <a:r>
              <a:t>68,427</a:t>
            </a:r>
          </a:p>
          <a:p>
            <a:pPr>
              <a:defRPr sz="750">
                <a:solidFill>
                  <a:srgbClr val="334155"/>
                </a:solidFill>
              </a:defRPr>
            </a:pPr>
            <a:r>
              <a:t>Varg-2 Middle School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5504688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UNIQUE REACH</a:t>
            </a:r>
          </a:p>
          <a:p>
            <a:pPr>
              <a:defRPr sz="1700" b="1">
                <a:solidFill>
                  <a:srgbClr val="0D9488"/>
                </a:solidFill>
              </a:defRPr>
            </a:pPr>
            <a:r>
              <a:t>33,866</a:t>
            </a:r>
          </a:p>
          <a:p>
            <a:pPr>
              <a:defRPr sz="750">
                <a:solidFill>
                  <a:srgbClr val="334155"/>
                </a:solidFill>
              </a:defRPr>
            </a:pPr>
            <a:r>
              <a:t>49.5% State Saturation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7216" y="5504688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ACTIVE REPORTING CLUSTERS</a:t>
            </a:r>
          </a:p>
          <a:p>
            <a:pPr>
              <a:defRPr sz="1700" b="1">
                <a:solidFill>
                  <a:srgbClr val="0D9488"/>
                </a:solidFill>
              </a:defRPr>
            </a:pPr>
            <a:r>
              <a:t>3,014</a:t>
            </a:r>
          </a:p>
          <a:p>
            <a:pPr>
              <a:defRPr sz="750">
                <a:solidFill>
                  <a:srgbClr val="334155"/>
                </a:solidFill>
              </a:defRPr>
            </a:pPr>
            <a:r>
              <a:t>Physical Cluster Centers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623" y="5504688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FACILITATOR POOL</a:t>
            </a:r>
          </a:p>
          <a:p>
            <a:pPr>
              <a:defRPr sz="1700" b="1">
                <a:solidFill>
                  <a:srgbClr val="0D9488"/>
                </a:solidFill>
              </a:defRPr>
            </a:pPr>
            <a:r>
              <a:t>6,658</a:t>
            </a:r>
          </a:p>
          <a:p>
            <a:pPr>
              <a:defRPr sz="750">
                <a:solidFill>
                  <a:srgbClr val="334155"/>
                </a:solidFill>
              </a:defRPr>
            </a:pPr>
            <a:r>
              <a:t>60.2% Repeat Retention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5504688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DO PARTICIPATION</a:t>
            </a:r>
          </a:p>
          <a:p>
            <a:pPr>
              <a:defRPr sz="1700" b="1">
                <a:solidFill>
                  <a:srgbClr val="0D9488"/>
                </a:solidFill>
              </a:defRPr>
            </a:pPr>
            <a:r>
              <a:t>8,888</a:t>
            </a:r>
          </a:p>
          <a:p>
            <a:pPr>
              <a:defRPr sz="750">
                <a:solidFill>
                  <a:srgbClr val="334155"/>
                </a:solidFill>
              </a:defRPr>
            </a:pPr>
            <a:r>
              <a:t>6,272 Unique Individuals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SYSTEM CONTROLS</a:t>
            </a:r>
          </a:p>
          <a:p>
            <a:pPr>
              <a:defRPr sz="1700" b="1">
                <a:solidFill>
                  <a:srgbClr val="0F172A"/>
                </a:solidFill>
              </a:defRPr>
            </a:pPr>
            <a:r>
              <a:t>Studio Controls: Global Slicers &amp; Priority Strategic Briefing Drawer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411480"/>
            <a:ext cx="1036015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50" b="1">
                <a:solidFill>
                  <a:srgbClr val="334155"/>
                </a:solidFill>
              </a:defRPr>
            </a:pPr>
            <a:r>
              <a:t>03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155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ean_controls_bar_trim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1188300"/>
          </a:xfrm>
          <a:prstGeom prst="rect">
            <a:avLst/>
          </a:prstGeom>
        </p:spPr>
      </p:pic>
      <p:pic>
        <p:nvPicPr>
          <p:cNvPr id="7" name="Picture 6" descr="slide3_clean_drawer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06040"/>
            <a:ext cx="3749039" cy="368087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09160" y="2606040"/>
            <a:ext cx="674827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2606040"/>
            <a:ext cx="73152" cy="11155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2715768"/>
            <a:ext cx="63550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D9488"/>
                </a:solidFill>
              </a:defRPr>
            </a:pPr>
            <a:r>
              <a:t>1. REPORTING CYCLE SLICER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Toggles between August 2026, September 2026, and Consolidated (Aug + Sep). Switching recalculates all turnout charts, block directories, and psychometric scores across the entire studio in real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3858768"/>
            <a:ext cx="674827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160" y="3858768"/>
            <a:ext cx="73152" cy="111556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3968496"/>
            <a:ext cx="63550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EA5E9"/>
                </a:solidFill>
              </a:defRPr>
            </a:pPr>
            <a:r>
              <a:t>2. PROGRAM &amp; CADRE FILTERS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Isolates CLSS (frontline teacher cluster meetings) versus DO (District Orientation leadership sessions), and filters by Teachers, Facilitators, or Observers to separate instructional trends from administrative oversight.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5111496"/>
            <a:ext cx="674827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9160" y="5111496"/>
            <a:ext cx="73152" cy="11155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5221224"/>
            <a:ext cx="635508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3. PRIORITY STRATEGIC BRIEFING DRAWER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Clicking the golden button opens the priority alert drawer (shown on the left). Instantly highlights critical escalations: Q95/Q97 student inquiry gaps, unmonitored clusters (Q76), and district reporting stalls without digging through raw tables.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EXECUTIVE METRICS</a:t>
            </a:r>
          </a:p>
          <a:p>
            <a:pPr>
              <a:defRPr sz="1700" b="1">
                <a:solidFill>
                  <a:srgbClr val="0F172A"/>
                </a:solidFill>
              </a:defRPr>
            </a:pPr>
            <a:r>
              <a:t>Headline State Health: The 5 Bento Scorecards Explained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411480"/>
            <a:ext cx="1036015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50" b="1">
                <a:solidFill>
                  <a:srgbClr val="334155"/>
                </a:solidFill>
              </a:defRPr>
            </a:pPr>
            <a: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155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kpi_cards_mast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162660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2971800"/>
            <a:ext cx="2048256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971800"/>
            <a:ext cx="2048256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081528"/>
            <a:ext cx="1828800" cy="3163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4748B"/>
                </a:solidFill>
                <a:latin typeface="Calibri"/>
              </a:rPr>
              <a:t>DISTRICT COVERAGE</a:t>
            </a:r>
          </a:p>
          <a:p>
            <a:pPr>
              <a:spcBef>
                <a:spcPts val="200"/>
              </a:spcBef>
            </a:pPr>
            <a:r>
              <a:rPr sz="1700" b="1">
                <a:solidFill>
                  <a:srgbClr val="10B981"/>
                </a:solidFill>
                <a:latin typeface="Calibri"/>
              </a:rPr>
              <a:t>100%</a:t>
            </a:r>
          </a:p>
          <a:p>
            <a:r>
              <a:rPr sz="800" b="1">
                <a:solidFill>
                  <a:srgbClr val="0F172A"/>
                </a:solidFill>
                <a:latin typeface="Calibri"/>
              </a:rPr>
              <a:t>52 / 52 Districts Active</a:t>
            </a:r>
          </a:p>
          <a:p>
            <a:pPr>
              <a:spcBef>
                <a:spcPts val="800"/>
              </a:spcBef>
            </a:pPr>
            <a:r>
              <a:rPr sz="800" b="1">
                <a:solidFill>
                  <a:srgbClr val="10B981"/>
                </a:solidFill>
                <a:latin typeface="Calibri"/>
              </a:rPr>
              <a:t>What it tracks: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334155"/>
                </a:solidFill>
                <a:latin typeface="Calibri"/>
              </a:rPr>
              <a:t>Statewide administrative presence across all 52 educational districts with zero dropout.</a:t>
            </a:r>
          </a:p>
          <a:p>
            <a:pPr>
              <a:spcBef>
                <a:spcPts val="800"/>
              </a:spcBef>
            </a:pPr>
            <a:r>
              <a:rPr sz="800" b="1">
                <a:solidFill>
                  <a:srgbClr val="0F172A"/>
                </a:solidFill>
                <a:latin typeface="Calibri"/>
              </a:rPr>
              <a:t>Decision impact: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334155"/>
                </a:solidFill>
                <a:latin typeface="Calibri"/>
              </a:rPr>
              <a:t>Confirms universal district participation before evaluating instructional depth.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1391" y="2971800"/>
            <a:ext cx="2048256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01391" y="2971800"/>
            <a:ext cx="2048256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1119" y="3081528"/>
            <a:ext cx="1828800" cy="3163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4748B"/>
                </a:solidFill>
                <a:latin typeface="Calibri"/>
              </a:rPr>
              <a:t>ACTIVE VENUES</a:t>
            </a:r>
          </a:p>
          <a:p>
            <a:pPr>
              <a:spcBef>
                <a:spcPts val="200"/>
              </a:spcBef>
            </a:pPr>
            <a:r>
              <a:rPr sz="1700" b="1">
                <a:solidFill>
                  <a:srgbClr val="0D9488"/>
                </a:solidFill>
                <a:latin typeface="Calibri"/>
              </a:rPr>
              <a:t>2,972</a:t>
            </a:r>
          </a:p>
          <a:p>
            <a:r>
              <a:rPr sz="800" b="1">
                <a:solidFill>
                  <a:srgbClr val="0F172A"/>
                </a:solidFill>
                <a:latin typeface="Calibri"/>
              </a:rPr>
              <a:t>3,014 Unique Clusters</a:t>
            </a:r>
          </a:p>
          <a:p>
            <a:pPr>
              <a:spcBef>
                <a:spcPts val="800"/>
              </a:spcBef>
            </a:pPr>
            <a:r>
              <a:rPr sz="800" b="1">
                <a:solidFill>
                  <a:srgbClr val="0D9488"/>
                </a:solidFill>
                <a:latin typeface="Calibri"/>
              </a:rPr>
              <a:t>What it tracks: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334155"/>
                </a:solidFill>
                <a:latin typeface="Calibri"/>
              </a:rPr>
              <a:t>Physical cluster resource centers and DIET venues actively conducting sessions.</a:t>
            </a:r>
          </a:p>
          <a:p>
            <a:pPr>
              <a:spcBef>
                <a:spcPts val="800"/>
              </a:spcBef>
            </a:pPr>
            <a:r>
              <a:rPr sz="800" b="1">
                <a:solidFill>
                  <a:srgbClr val="0F172A"/>
                </a:solidFill>
                <a:latin typeface="Calibri"/>
              </a:rPr>
              <a:t>Decision impact: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334155"/>
                </a:solidFill>
                <a:latin typeface="Calibri"/>
              </a:rPr>
              <a:t>Proves core academic delivery infrastructure is functioning statewide.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1262" y="2971800"/>
            <a:ext cx="2048256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71262" y="2971800"/>
            <a:ext cx="2048256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0990" y="3081528"/>
            <a:ext cx="1828800" cy="3163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4748B"/>
                </a:solidFill>
                <a:latin typeface="Calibri"/>
              </a:rPr>
              <a:t>UNIQUE REACH</a:t>
            </a:r>
          </a:p>
          <a:p>
            <a:pPr>
              <a:spcBef>
                <a:spcPts val="200"/>
              </a:spcBef>
            </a:pPr>
            <a:r>
              <a:rPr sz="1700" b="1">
                <a:solidFill>
                  <a:srgbClr val="6366F1"/>
                </a:solidFill>
                <a:latin typeface="Calibri"/>
              </a:rPr>
              <a:t>33,866</a:t>
            </a:r>
          </a:p>
          <a:p>
            <a:r>
              <a:rPr sz="800" b="1">
                <a:solidFill>
                  <a:srgbClr val="0F172A"/>
                </a:solidFill>
                <a:latin typeface="Calibri"/>
              </a:rPr>
              <a:t>49.5% State Cadre</a:t>
            </a:r>
          </a:p>
          <a:p>
            <a:pPr>
              <a:spcBef>
                <a:spcPts val="800"/>
              </a:spcBef>
            </a:pPr>
            <a:r>
              <a:rPr sz="800" b="1">
                <a:solidFill>
                  <a:srgbClr val="6366F1"/>
                </a:solidFill>
                <a:latin typeface="Calibri"/>
              </a:rPr>
              <a:t>What it tracks: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334155"/>
                </a:solidFill>
                <a:latin typeface="Calibri"/>
              </a:rPr>
              <a:t>De-duplicated individual middle school teachers trained across cycles.</a:t>
            </a:r>
          </a:p>
          <a:p>
            <a:pPr>
              <a:spcBef>
                <a:spcPts val="800"/>
              </a:spcBef>
            </a:pPr>
            <a:r>
              <a:rPr sz="800" b="1">
                <a:solidFill>
                  <a:srgbClr val="0F172A"/>
                </a:solidFill>
                <a:latin typeface="Calibri"/>
              </a:rPr>
              <a:t>Decision impact: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334155"/>
                </a:solidFill>
                <a:latin typeface="Calibri"/>
              </a:rPr>
              <a:t>Separates net statewide reach from recurring monthly attendance counts.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41133" y="2971800"/>
            <a:ext cx="2048256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41133" y="2971800"/>
            <a:ext cx="2048256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0861" y="3081528"/>
            <a:ext cx="1828800" cy="3163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4748B"/>
                </a:solidFill>
                <a:latin typeface="Calibri"/>
              </a:rPr>
              <a:t>DO CASCADE</a:t>
            </a:r>
          </a:p>
          <a:p>
            <a:pPr>
              <a:spcBef>
                <a:spcPts val="200"/>
              </a:spcBef>
            </a:pPr>
            <a:r>
              <a:rPr sz="1700" b="1">
                <a:solidFill>
                  <a:srgbClr val="D97706"/>
                </a:solidFill>
                <a:latin typeface="Calibri"/>
              </a:rPr>
              <a:t>8,888</a:t>
            </a:r>
          </a:p>
          <a:p>
            <a:r>
              <a:rPr sz="800" b="1">
                <a:solidFill>
                  <a:srgbClr val="0F172A"/>
                </a:solidFill>
                <a:latin typeface="Calibri"/>
              </a:rPr>
              <a:t>6,272 Unique Leaders</a:t>
            </a:r>
          </a:p>
          <a:p>
            <a:pPr>
              <a:spcBef>
                <a:spcPts val="800"/>
              </a:spcBef>
            </a:pPr>
            <a:r>
              <a:rPr sz="800" b="1">
                <a:solidFill>
                  <a:srgbClr val="D97706"/>
                </a:solidFill>
                <a:latin typeface="Calibri"/>
              </a:rPr>
              <a:t>What it tracks: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334155"/>
                </a:solidFill>
                <a:latin typeface="Calibri"/>
              </a:rPr>
              <a:t>Attendance in preparatory district orientation leadership cascades.</a:t>
            </a:r>
          </a:p>
          <a:p>
            <a:pPr>
              <a:spcBef>
                <a:spcPts val="800"/>
              </a:spcBef>
            </a:pPr>
            <a:r>
              <a:rPr sz="800" b="1">
                <a:solidFill>
                  <a:srgbClr val="0F172A"/>
                </a:solidFill>
                <a:latin typeface="Calibri"/>
              </a:rPr>
              <a:t>Decision impact: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334155"/>
                </a:solidFill>
                <a:latin typeface="Calibri"/>
              </a:rPr>
              <a:t>Tracks facilitator mastery and operational readiness before cluster rollouts.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1004" y="2971800"/>
            <a:ext cx="2048256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11004" y="2971800"/>
            <a:ext cx="2048256" cy="54864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0732" y="3081528"/>
            <a:ext cx="1828800" cy="3163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64748B"/>
                </a:solidFill>
                <a:latin typeface="Calibri"/>
              </a:rPr>
              <a:t>FACILITATOR RETENTION</a:t>
            </a:r>
          </a:p>
          <a:p>
            <a:pPr>
              <a:spcBef>
                <a:spcPts val="200"/>
              </a:spcBef>
            </a:pPr>
            <a:r>
              <a:rPr sz="1700" b="1">
                <a:solidFill>
                  <a:srgbClr val="9333EA"/>
                </a:solidFill>
                <a:latin typeface="Calibri"/>
              </a:rPr>
              <a:t>60.2%</a:t>
            </a:r>
          </a:p>
          <a:p>
            <a:r>
              <a:rPr sz="800" b="1">
                <a:solidFill>
                  <a:srgbClr val="0F172A"/>
                </a:solidFill>
                <a:latin typeface="Calibri"/>
              </a:rPr>
              <a:t>2,896 Repeat Leads</a:t>
            </a:r>
          </a:p>
          <a:p>
            <a:pPr>
              <a:spcBef>
                <a:spcPts val="800"/>
              </a:spcBef>
            </a:pPr>
            <a:r>
              <a:rPr sz="800" b="1">
                <a:solidFill>
                  <a:srgbClr val="9333EA"/>
                </a:solidFill>
                <a:latin typeface="Calibri"/>
              </a:rPr>
              <a:t>What it tracks: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334155"/>
                </a:solidFill>
                <a:latin typeface="Calibri"/>
              </a:rPr>
              <a:t>Lead teachers facilitating across both August and September cycles.</a:t>
            </a:r>
          </a:p>
          <a:p>
            <a:pPr>
              <a:spcBef>
                <a:spcPts val="800"/>
              </a:spcBef>
            </a:pPr>
            <a:r>
              <a:rPr sz="800" b="1">
                <a:solidFill>
                  <a:srgbClr val="0F172A"/>
                </a:solidFill>
                <a:latin typeface="Calibri"/>
              </a:rPr>
              <a:t>Decision impact: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334155"/>
                </a:solidFill>
                <a:latin typeface="Calibri"/>
              </a:rPr>
              <a:t>Maintains pedagogical continuity and institutional memory in clusters.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OPERATIONAL OVERVIEW</a:t>
            </a:r>
          </a:p>
          <a:p>
            <a:pPr>
              <a:defRPr sz="1700" b="1">
                <a:solidFill>
                  <a:srgbClr val="0F172A"/>
                </a:solidFill>
              </a:defRPr>
            </a:pPr>
            <a:r>
              <a:t>Tab 1: Overview &amp; Summary — Turnout Rankings &amp; Cadre Proportions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411480"/>
            <a:ext cx="1036015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50" b="1">
                <a:solidFill>
                  <a:srgbClr val="334155"/>
                </a:solidFill>
              </a:defRPr>
            </a:pPr>
            <a:r>
              <a:t>05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155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676656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5_ranking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98448"/>
            <a:ext cx="5405296" cy="3017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80960" y="1234440"/>
            <a:ext cx="3779215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5_cadre_do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298448"/>
            <a:ext cx="2860084" cy="3017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4526280"/>
            <a:ext cx="676656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45152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</a:defRPr>
            </a:pPr>
            <a:r>
              <a:t>STATEWIDE DISTRICT TURNOUT RANKING BAR CHART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What this graph measures: Vertical columns display participant mobilization descending across all 52 educational districts with quick-toggle views for All Districts, Top 15, and Bottom 15.</a:t>
            </a:r>
            <a:br/>
            <a:br/>
            <a:r>
              <a:t>Actionable takeaway: Identifies benchmark districts (e.g. Alirajpur at 87.2%, Datia at 78.4%, Dindori at 76.1%). DPCs from lagging districts can be paired with top performers for operational learning.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526280"/>
            <a:ext cx="3779215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645152"/>
            <a:ext cx="341345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STAKEHOLDER CADRE BREAKDOWN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What this graph measures: Donut chart displaying the exact distribution of frontline Teachers, Facilitators, and Observers.</a:t>
            </a:r>
            <a:br/>
            <a:br/>
            <a:r>
              <a:t>Actionable takeaway: Verifies attendees are 83.8% frontline Teachers and 14.5% Facilitators, confirming cluster dialogues remain safe, peer-driven spaces rather than administrative audits.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DIAGNOSTIC FRAMEWORK</a:t>
            </a:r>
          </a:p>
          <a:p>
            <a:pPr>
              <a:defRPr sz="1700" b="1">
                <a:solidFill>
                  <a:srgbClr val="0F172A"/>
                </a:solidFill>
              </a:defRPr>
            </a:pPr>
            <a:r>
              <a:t>Tab 1 (Cont): The 52-District Strategic Quadrant Scatter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411480"/>
            <a:ext cx="1036015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50" b="1">
                <a:solidFill>
                  <a:srgbClr val="334155"/>
                </a:solidFill>
              </a:defRPr>
            </a:pPr>
            <a:r>
              <a:t>06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155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6_quadrant_mast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256932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931920"/>
            <a:ext cx="5285232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3931920"/>
            <a:ext cx="73152" cy="11704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4005072"/>
            <a:ext cx="495604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0B981"/>
                </a:solidFill>
              </a:rPr>
              <a:t>QUADRANT 1: STATE CHAMPIONS (15 DISTRICTS)</a:t>
            </a:r>
          </a:p>
          <a:p>
            <a:pPr>
              <a:spcBef>
                <a:spcPts val="200"/>
              </a:spcBef>
            </a:pPr>
            <a:r>
              <a:rPr sz="750" b="1">
                <a:solidFill>
                  <a:srgbClr val="0F172A"/>
                </a:solidFill>
              </a:rPr>
              <a:t>High Attendance (≥450) &amp; High Teaching Score (≥56%)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334155"/>
                </a:solidFill>
              </a:rPr>
              <a:t>Exemplary implementation districts with strong attendance and deep conceptual understanding (e.g. Betul, Chhindwara, Indore).
Action: Document local best practices and designate as regional mentor hubs for neighboring districts.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931920"/>
            <a:ext cx="5285232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3931920"/>
            <a:ext cx="73152" cy="1170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4005072"/>
            <a:ext cx="495604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D97706"/>
                </a:solidFill>
              </a:rPr>
              <a:t>QUADRANT 2: PROCESS-DRIVEN (10 DISTRICTS)</a:t>
            </a:r>
          </a:p>
          <a:p>
            <a:pPr>
              <a:spcBef>
                <a:spcPts val="200"/>
              </a:spcBef>
            </a:pPr>
            <a:r>
              <a:rPr sz="750" b="1">
                <a:solidFill>
                  <a:srgbClr val="0F172A"/>
                </a:solidFill>
              </a:rPr>
              <a:t>High Attendance (≥450) &amp; Teaching Score Gap (&lt;56%)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334155"/>
                </a:solidFill>
              </a:rPr>
              <a:t>Strong administrative mobilization, but teachers struggle with core instructional concepts (e.g. Balaghat, Barwani, Bhind, Dhar).
Action: Avoid administrative pressure; dispatch DIET mentors for facilitator coaching.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93792"/>
            <a:ext cx="5285232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5193792"/>
            <a:ext cx="73152" cy="1170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66944"/>
            <a:ext cx="495604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0EA5E9"/>
                </a:solidFill>
              </a:rPr>
              <a:t>QUADRANT 3: ACADEMIC ENCLAVES (13 DISTRICTS)</a:t>
            </a:r>
          </a:p>
          <a:p>
            <a:pPr>
              <a:spcBef>
                <a:spcPts val="200"/>
              </a:spcBef>
            </a:pPr>
            <a:r>
              <a:rPr sz="750" b="1">
                <a:solidFill>
                  <a:srgbClr val="0F172A"/>
                </a:solidFill>
              </a:rPr>
              <a:t>Attendance Boost Needed (&lt;450) &amp; High Score (≥56%)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334155"/>
                </a:solidFill>
              </a:rPr>
              <a:t>Teachers demonstrate strong comprehension, but overall attendance is low (e.g. Agar Malwa, Alirajpur, Bhopal, Jabalpur).
Action: Issue administrative directives to improve school release and attendance.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5193792"/>
            <a:ext cx="5285232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5193792"/>
            <a:ext cx="73152" cy="117043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5266944"/>
            <a:ext cx="495604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E11D48"/>
                </a:solidFill>
              </a:rPr>
              <a:t>QUADRANT 4: CRITICAL SUPPORT (14 DISTRICTS)</a:t>
            </a:r>
          </a:p>
          <a:p>
            <a:pPr>
              <a:spcBef>
                <a:spcPts val="200"/>
              </a:spcBef>
            </a:pPr>
            <a:r>
              <a:rPr sz="750" b="1">
                <a:solidFill>
                  <a:srgbClr val="0F172A"/>
                </a:solidFill>
              </a:rPr>
              <a:t>Priority Support: Low Turnout (&lt;450) &amp; Score Gap (&lt;56%)</a:t>
            </a:r>
          </a:p>
          <a:p>
            <a:pPr>
              <a:spcBef>
                <a:spcPts val="200"/>
              </a:spcBef>
            </a:pPr>
            <a:r>
              <a:rPr sz="750">
                <a:solidFill>
                  <a:srgbClr val="334155"/>
                </a:solidFill>
              </a:rPr>
              <a:t>Districts lagging in both attendance and instructional understanding (e.g. Anuppur, Ashoknagar, Burhanpur, Datia, Dindori).
Action: Immediate joint administrative and academic review led by the RSK directorate.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OPERATIONAL FIDELITY</a:t>
            </a:r>
          </a:p>
          <a:p>
            <a:pPr>
              <a:defRPr sz="1700" b="1">
                <a:solidFill>
                  <a:srgbClr val="0F172A"/>
                </a:solidFill>
              </a:defRPr>
            </a:pPr>
            <a:r>
              <a:t>Tab 2: Key Goals &amp; Results Framework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411480"/>
            <a:ext cx="1036015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50" b="1">
                <a:solidFill>
                  <a:srgbClr val="334155"/>
                </a:solidFill>
              </a:defRPr>
            </a:pPr>
            <a:r>
              <a:t>07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155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7_clean_sub_indicators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285232" cy="1368344"/>
          </a:xfrm>
          <a:prstGeom prst="rect">
            <a:avLst/>
          </a:prstGeom>
        </p:spPr>
      </p:pic>
      <p:pic>
        <p:nvPicPr>
          <p:cNvPr id="7" name="Picture 6" descr="slide7_clean_rf_matrix_perf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5285232" cy="19841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3520440"/>
            <a:ext cx="5285232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639312"/>
            <a:ext cx="48280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9488"/>
                </a:solidFill>
              </a:defRPr>
            </a:pPr>
            <a:r>
              <a:t>OUTPUT 1.1: TARGET VS ACTUAL BENCHMARKING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What this tool tracks: Compares official LogFrame target benchmarks against actual field delivery:</a:t>
            </a:r>
            <a:br/>
            <a:r>
              <a:t>• DO Completion Rate: Achieved 100% against 95% official target.</a:t>
            </a:r>
            <a:br/>
            <a:r>
              <a:t>• DO Participant Mobilization: Achieved 4,454 participants against 4,000+ target.</a:t>
            </a:r>
            <a:br/>
            <a:br/>
            <a:r>
              <a:t>Actionable takeaway: Confirms that administrative orientation cascades were fully executed ahead of cluster rollouts, ensuring district teams were equipped with required training materials.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520440"/>
            <a:ext cx="5285232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639312"/>
            <a:ext cx="48280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STATEWIDE 52-DISTRICT RESULTS FRAMEWORK (RF) MATRIX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What this tool tracks: Comprehensive district-by-district matrix auditing compliance across 8 core operational indicators:</a:t>
            </a:r>
            <a:br/>
            <a:r>
              <a:t>• Operational: Clusters Active, Attendees, Reach (Ind 7), Syllabus coverage (Ind 8).</a:t>
            </a:r>
            <a:br/>
            <a:r>
              <a:t>• Quality: Content Quality (Ind 10), Clarity (Ind 12), Utility (Ind 13), Dialogue (Ind 14).</a:t>
            </a:r>
            <a:br/>
            <a:br/>
            <a:r>
              <a:t>Actionable takeaway: Leadership can sort by any column to isolate whether district lags stem from logistics (reach) or pedagogical delivery (dialogue/clarity).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DISTRICT DEEP-DIVE</a:t>
            </a:r>
          </a:p>
          <a:p>
            <a:pPr>
              <a:defRPr sz="1700" b="1">
                <a:solidFill>
                  <a:srgbClr val="0F172A"/>
                </a:solidFill>
              </a:defRPr>
            </a:pPr>
            <a:r>
              <a:t>Tab 3: District 360 Profile — Radar Diagnostics &amp; Block Variance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411480"/>
            <a:ext cx="1036015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50" b="1">
                <a:solidFill>
                  <a:srgbClr val="334155"/>
                </a:solidFill>
              </a:defRPr>
            </a:pPr>
            <a:r>
              <a:t>08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155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85232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8_clean_block_ca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5102352" cy="168427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234440"/>
            <a:ext cx="5285232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8_radar_card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298448"/>
            <a:ext cx="4444259" cy="2834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4343400"/>
            <a:ext cx="528523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62272"/>
            <a:ext cx="482803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D9488"/>
                </a:solidFill>
              </a:rPr>
              <a:t>BLOCK-LEVEL CADRE COMPARISON (DISPERSION ANALYSIS)</a:t>
            </a:r>
          </a:p>
          <a:p>
            <a:pPr>
              <a:spcBef>
                <a:spcPts val="600"/>
              </a:spcBef>
            </a:pPr>
            <a:r>
              <a:rPr sz="800">
                <a:solidFill>
                  <a:srgbClr val="334155"/>
                </a:solidFill>
              </a:rPr>
              <a:t>What this graph measures: Compares all blocks within a selected district side-by-side against sanctioned cadre and participation. Clearly labels every block (e.g. Agar, Barod, Nalkheda, Susner).
Actionable takeaway: Exposes internal block disparities. A district averaging 31.6% saturation often conceals wide variance—Barod at 38.8% while Nalkheda lags at 28.7%. DPCs can target specific block coordinators rather than penalizing the whole district.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343400"/>
            <a:ext cx="5285232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462272"/>
            <a:ext cx="482803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F172A"/>
                </a:solidFill>
              </a:rPr>
              <a:t>5-AXIS PEDAGOGICAL SPIDER / RADAR CHART</a:t>
            </a:r>
          </a:p>
          <a:p>
            <a:pPr>
              <a:spcBef>
                <a:spcPts val="600"/>
              </a:spcBef>
            </a:pPr>
            <a:r>
              <a:rPr sz="800">
                <a:solidFill>
                  <a:srgbClr val="334155"/>
                </a:solidFill>
              </a:rPr>
              <a:t>What this graph measures: Visualizes balance across 5 dimensions: Topic Recall, Objective Understanding, Active Engagement, Psychological Safety, and Deep Belongingness.
Actionable takeaway: Directly compares CLSS Teacher Accuracy against DO Facilitator Baseline to detect where classroom translation breaks down.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ADMINISTRATIVE DIRECTORIES</a:t>
            </a:r>
          </a:p>
          <a:p>
            <a:pPr>
              <a:defRPr sz="1700" b="1">
                <a:solidFill>
                  <a:srgbClr val="0F172A"/>
                </a:solidFill>
              </a:defRPr>
            </a:pPr>
            <a:r>
              <a:t>Tabs 4 &amp; 5: State League Table &amp; 322-Block Operational Directory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411480"/>
            <a:ext cx="1036015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50" b="1">
                <a:solidFill>
                  <a:srgbClr val="334155"/>
                </a:solidFill>
              </a:defRPr>
            </a:pPr>
            <a:r>
              <a:t>09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155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9_clean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285232" cy="210740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520440"/>
            <a:ext cx="5285232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639312"/>
            <a:ext cx="48280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9488"/>
                </a:solidFill>
              </a:defRPr>
            </a:pPr>
            <a:r>
              <a:t>TAB 4: 52-DISTRICT LEAGUE TABLE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What this tool provides: Sortable multi-column table ranking all 52 districts across turnout, attendees, active venues, and pedagogical mastery.</a:t>
            </a:r>
            <a:br/>
            <a:br/>
            <a:r>
              <a:t>Pre-configured quick filters: Top 10 High Turnout (benchmarking), NITI Aspirational (8 focus districts), Data Deficit (reporting delays), and Critical Blackouts (&lt;35% attendance threshold).</a:t>
            </a:r>
          </a:p>
        </p:txBody>
      </p:sp>
      <p:pic>
        <p:nvPicPr>
          <p:cNvPr id="9" name="Picture 8" descr="slide9_clean_direc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5285232" cy="210740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285232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639312"/>
            <a:ext cx="48280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TAB 5: 322-BLOCK OPERATIONAL DIRECTORY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What this tool provides: Instant search roster for all 322 educational blocks in MP, showing reporting clusters, teacher attendance, and turnout percentages.</a:t>
            </a:r>
            <a:br/>
            <a:br/>
            <a:r>
              <a:t>Actionable takeaway: Enables BEOs and BACs to inspect local data, diagnose why specific clusters underperformed, and resolve transport or scheduling bottlenecks.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PEDAGOGICAL DIAGNOSTICS</a:t>
            </a:r>
          </a:p>
          <a:p>
            <a:pPr>
              <a:defRPr sz="1700" b="1">
                <a:solidFill>
                  <a:srgbClr val="0F172A"/>
                </a:solidFill>
              </a:defRPr>
            </a:pPr>
            <a:r>
              <a:t>Tabs 6 &amp; 7: Survey Psychometrics &amp; Pedagogical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411480"/>
            <a:ext cx="1036015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50" b="1">
                <a:solidFill>
                  <a:srgbClr val="334155"/>
                </a:solidFill>
              </a:defRPr>
            </a:pPr>
            <a:r>
              <a:t>10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155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10_clean_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285232" cy="210740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520440"/>
            <a:ext cx="5285232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639312"/>
            <a:ext cx="48280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9488"/>
                </a:solidFill>
              </a:defRPr>
            </a:pPr>
            <a:r>
              <a:t>TAB 6: 70+ ITEM SURVEY DIAGNOSTICS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What this graph measures: Stacked proportion bars display percentage splits across multiple-choice options for all survey items (Q82 to Q179).</a:t>
            </a:r>
            <a:br/>
            <a:r>
              <a:t>• Teal: Constructivist, student-centered practice.</a:t>
            </a:r>
            <a:br/>
            <a:r>
              <a:t>• Slate: Traditional, lecture-based approach.</a:t>
            </a:r>
            <a:br/>
            <a:r>
              <a:t>• Red: Persistent misconception / distractor trap.</a:t>
            </a:r>
            <a:br/>
            <a:br/>
            <a:r>
              <a:t>Takeaway: Helps curriculum teams identify items with high error rates to rewrite modules.</a:t>
            </a:r>
          </a:p>
        </p:txBody>
      </p:sp>
      <p:pic>
        <p:nvPicPr>
          <p:cNvPr id="9" name="Picture 8" descr="slide10_clean_misconceptions_p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5285232" cy="191568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285232" cy="2880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639312"/>
            <a:ext cx="48280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TAB 7: CORNERSTONE MISCONCEPTION STUDIES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Key questions deconstructed:</a:t>
            </a:r>
            <a:br/>
            <a:r>
              <a:t>• Q95 (Active Engagement vs Busywork): 64.1% of teachers treat group seating as physical arrangement rather than authentic cognitive problem-solving.</a:t>
            </a:r>
            <a:br/>
            <a:r>
              <a:t>• Q97 (Classroom Belongingness): 66.1% misconception rate—conflating surface praise with genuine intellectual inclusion.</a:t>
            </a:r>
            <a:br/>
            <a:r>
              <a:t>• Action: Mandate 20-minute simulation drills in monthly cluster meetings.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GOVERNANCE &amp; RETENTION</a:t>
            </a:r>
          </a:p>
          <a:p>
            <a:pPr>
              <a:defRPr sz="1700" b="1">
                <a:solidFill>
                  <a:srgbClr val="0F172A"/>
                </a:solidFill>
              </a:defRPr>
            </a:pPr>
            <a:r>
              <a:t>Tabs 8 &amp; 11: Administrative Directives &amp; Teacher Cohort Retention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411480"/>
            <a:ext cx="1036015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50" b="1">
                <a:solidFill>
                  <a:srgbClr val="334155"/>
                </a:solidFill>
              </a:defRPr>
            </a:pPr>
            <a:r>
              <a:t>11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155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11_clean_actions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285232" cy="234329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657600"/>
            <a:ext cx="5285232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767328"/>
            <a:ext cx="482803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D9488"/>
                </a:solidFill>
              </a:defRPr>
            </a:pPr>
            <a:r>
              <a:t>TAB 8: GOVERNANCE ESCALATION MATRIX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Role-based administrative directives:</a:t>
            </a:r>
            <a:br/>
            <a:r>
              <a:t>• DPCs: Issue targeted review notices to blocks with attendance below 40%.</a:t>
            </a:r>
            <a:br/>
            <a:r>
              <a:t>• BEOs: Resolve cluster booking and transport bottlenecks in remote venues.</a:t>
            </a:r>
            <a:br/>
            <a:r>
              <a:t>• DIET Mentors: Deploy academic mentors to Quadrant 2 districts (High Turnout, Low Quality) to reinforce pedagogical concepts.</a:t>
            </a:r>
          </a:p>
        </p:txBody>
      </p:sp>
      <p:pic>
        <p:nvPicPr>
          <p:cNvPr id="9" name="Picture 8" descr="slide11_clean_cohorts_perf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5285232" cy="205251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657600"/>
            <a:ext cx="5285232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767328"/>
            <a:ext cx="482803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TAB 11: TEACHER COHORTS &amp; RETENTION (33,866 REACH)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Three distinct participation trajectories across cycles:</a:t>
            </a:r>
            <a:br/>
            <a:r>
              <a:t>• 13,088 Persistent Core (55.0%): Attended August and returned in September, forming the stable instructional backbone.</a:t>
            </a:r>
            <a:br/>
            <a:r>
              <a:t>• 10,697 Cycle 1 Only: Requires block follow-up calls to determine drop-off reasons.</a:t>
            </a:r>
            <a:br/>
            <a:r>
              <a:t>• 10,081 Fresh Faces in Cycle 2: Expanded reach to previously unreached schools.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D9488"/>
                </a:solidFill>
              </a:defRPr>
            </a:pPr>
            <a:r>
              <a:t>EXECUTIVE RUNBOOK</a:t>
            </a:r>
          </a:p>
          <a:p>
            <a:pPr>
              <a:defRPr sz="1700" b="1">
                <a:solidFill>
                  <a:srgbClr val="0F172A"/>
                </a:solidFill>
              </a:defRPr>
            </a:pPr>
            <a:r>
              <a:t>Decision-Maker's Cheat Sheet &amp; Operational Review Protocol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411480"/>
            <a:ext cx="1036015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50" b="1">
                <a:solidFill>
                  <a:srgbClr val="334155"/>
                </a:solidFill>
              </a:defRPr>
            </a:pPr>
            <a:r>
              <a:t>12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1556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34440"/>
          <a:ext cx="10728655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3474720"/>
                <a:gridCol w="2681935"/>
              </a:tblGrid>
              <a:tr h="54210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If Your Core Question Is: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Look at This Tab &amp; Chart: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What You Will Discover: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Action to Take: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Are we reaching enough teachers statewide?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9488"/>
                          </a:solidFill>
                        </a:defRPr>
                      </a:pPr>
                      <a:r>
                        <a:t>Top Bento Cards &amp; Tab 2 Funnel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Cumulative unique reach (33,866) vs total sanctioned cadre (68,427).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Evaluate whether overall mobilization targets are on schedule.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Which districts require administrative escalation?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9488"/>
                          </a:solidFill>
                        </a:defRPr>
                      </a:pPr>
                      <a:r>
                        <a:t>Tab 4: District Rankings (Filter: Critical Blackouts)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Districts below 35% attendance threshold.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Schedule targeted review calls with concerned DPCs.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Which districts need training quality support, not attendance pressure?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9488"/>
                          </a:solidFill>
                        </a:defRPr>
                      </a:pPr>
                      <a:r>
                        <a:t>Tab 1: Strategic Quadrant (Quadrant 2: Process-Driven)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Districts with high turnout but low pedagogical scores.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Send DIET mentors to strengthen facilitator capabilities.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Why are teachers struggling within a specific district?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9488"/>
                          </a:solidFill>
                        </a:defRPr>
                      </a:pPr>
                      <a:r>
                        <a:t>Tab 3: District Profile (5-Axis Radar Chart)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The district's specific weakness among the 5 competencies.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Provide targeted modules on that specific area.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21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Are teachers actually understanding child-centered pedagogy?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9488"/>
                          </a:solidFill>
                        </a:defRPr>
                      </a:pPr>
                      <a:r>
                        <a:t>Tab 7: Teaching Quality (Misconceptions Benchmark)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Teacher response patterns on Q95, Q96, and Q97.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Refine next month's session plans to address root misconceptions.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211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Did we retain teachers or did a new group attend?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9488"/>
                          </a:solidFill>
                        </a:defRPr>
                      </a:pPr>
                      <a:r>
                        <a:t>Tab 11: Teacher Cohorts &amp; Retention Matrix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Split of repeat attendees (13,088) vs single-cycle attendees.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Decide whether to run refresher sessions or repeat core modules.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257800"/>
            <a:ext cx="10728655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321808"/>
            <a:ext cx="10241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D9488"/>
                </a:solidFill>
              </a:defRPr>
            </a:pPr>
            <a:r>
              <a:t>RECOMMENDED MONTHLY REVIEW HABIT FOR STATE LEADERSHIP</a:t>
            </a:r>
          </a:p>
          <a:p>
            <a:pPr>
              <a:defRPr sz="800">
                <a:solidFill>
                  <a:srgbClr val="334155"/>
                </a:solidFill>
              </a:defRPr>
            </a:pPr>
            <a:r>
              <a:t>1. Begin with the Consolidated view to assess cumulative state reach, then switch to the current month to evaluate operational momentum.</a:t>
            </a:r>
            <a:br/>
            <a:r>
              <a:t>2. Use the Strategic Quadrant to focus review discussions on Quadrant 4 (Critical Support) and Quadrant 2 (Process-Driven).</a:t>
            </a:r>
            <a:br/>
            <a:r>
              <a:t>3. Drill down to Tab 5 (Block Directory) during district inquiries to identify the exact sub-district units driving any shortfall.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