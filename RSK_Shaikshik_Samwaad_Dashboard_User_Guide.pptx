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0545775" cy="5577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20116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9326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STATE EDUCATION MANAGEMENT INFORMATION SYSTEM • MADHYA PRADESH</a:t>
            </a: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t>Shaikshik Samwaad Master Executive Studio</a:t>
            </a:r>
          </a:p>
          <a:p>
            <a:pPr>
              <a:defRPr sz="1750">
                <a:solidFill>
                  <a:srgbClr val="CBD5E1"/>
                </a:solidFill>
              </a:defRPr>
            </a:pPr>
            <a:r>
              <a:t>A Complete Navigation, Telemetry &amp; Decision Architecture Guide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Exhaustive walkthrough of all 11 studio modules, interactive slicers, psychometric diagnostics, and data-driven governance protocols for state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617720"/>
            <a:ext cx="9448495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TARGET CADRE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68,427 Middle School Teachers across 52 Educational Districts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REPORTING CYCLES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August 2026, September 2026 &amp; Consolidated Longitudinal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SYSTEM AUDIENCE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RSK Directorate, Joint Directors, DPCs, APCs, BEOs &amp; Academic Mentors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STUDIO PURPOSE &amp; CONTEXT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Executive Overview: Who, What, Where, Why &amp; When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01 • </a:t>
            </a:r>
            <a:r>
              <a:rPr sz="1250" b="1">
                <a:solidFill>
                  <a:srgbClr val="0D9488"/>
                </a:solidFill>
              </a:rPr>
              <a:t>WHAT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A single-screen interactive intelligence platform tracking 68,427 middle-school teachers across MP. It bridges administrative attendance logs with teacher psychometric and pedagogical survey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44475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02 • </a:t>
            </a:r>
            <a:r>
              <a:rPr sz="1250" b="1">
                <a:solidFill>
                  <a:srgbClr val="0F172A"/>
                </a:solidFill>
              </a:rPr>
              <a:t>WHO IS IT FOR?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State leadership (RSK), Joint Directors (JDs), District Project Coordinators (DPCs), BEOs, and academic mentors who require verifiable evidence to guide school visits.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9872" y="144475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03 • </a:t>
            </a:r>
            <a:r>
              <a:rPr sz="1250" b="1">
                <a:solidFill>
                  <a:srgbClr val="0EA5E9"/>
                </a:solidFill>
              </a:rPr>
              <a:t>WHERE TO ACCESS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Available locally as an all-in-one interactive web studio (index.html) running directly in any modern browser with zero server setup or external plugins.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400507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9651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04 • </a:t>
            </a:r>
            <a:r>
              <a:rPr sz="1250" b="1">
                <a:solidFill>
                  <a:srgbClr val="D97706"/>
                </a:solidFill>
              </a:rPr>
              <a:t>WHY DOES IT EXIST?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5371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To move beyond simple headcounts. It measures whether teachers actively understand constructivist classroom methods, what misconceptions persist, and where logistical support is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2272" y="400507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09651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05 • </a:t>
            </a:r>
            <a:r>
              <a:rPr sz="1250" b="1">
                <a:solidFill>
                  <a:srgbClr val="0F766E"/>
                </a:solidFill>
              </a:rPr>
              <a:t>WHEN IS THE DATA FROM?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5371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Encompasses the dual rollout cycles of August and September 2026, tracking cumulative reach, monthly repeat attendance, facilitator retention, and district trajectories.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410712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9872" y="4005072"/>
            <a:ext cx="3264408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09651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06 • </a:t>
            </a:r>
            <a:r>
              <a:rPr sz="1250" b="1">
                <a:solidFill>
                  <a:srgbClr val="10B981"/>
                </a:solidFill>
              </a:rPr>
              <a:t>STATE HEADLINE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553712"/>
            <a:ext cx="30449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68,427 Total Sanctioned Middle School Cadre</a:t>
            </a:r>
            <a:br/>
            <a:r>
              <a:t>• 33,866 Unique Teachers Reached (49.49% State Reach)</a:t>
            </a:r>
            <a:br/>
            <a:r>
              <a:t>• 3,014 Unique Reporting Physical Clusters Reached</a:t>
            </a:r>
            <a:br/>
            <a:r>
              <a:t>• 6,658 Unique Master Facilitators Prepared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SYSTEM TELEMETRY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Studio Navigation: Global Slicers &amp; Strategic Briefing Drawer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NAVBAR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CONTROLS • </a:t>
            </a:r>
            <a:r>
              <a:rPr sz="1250" b="1">
                <a:solidFill>
                  <a:srgbClr val="0D9488"/>
                </a:solidFill>
              </a:rPr>
              <a:t>Global Slicers &amp; Viewport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Reporting Cycle Slicer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Toggle August 2026, September 2026, or Consolidated (Aug + Sep). Switching this recalculates all turnout charts, block directories, and psychometric scores across the entire studio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Program Mode Slicer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Switch between Consolidated (All Data), CLSS (Cluster Level Samwaad for frontline teachers), and DO (District Orientation sessions for block/cluster resource persons).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79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Cadre &amp; Role Filter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Filter views by Teachers, Master Facilitators, or Observers &amp; Monitors to examine metrics specific to frontline instruction versus administrative oversight.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Bilingual Language Switcher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Instant English / Hindi toggle in the header. Dynamically translates titles, labels, diagnostic options, and table columns for field officers.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DRAWER • </a:t>
            </a:r>
            <a:r>
              <a:rPr sz="1250" b="1">
                <a:solidFill>
                  <a:srgbClr val="0F172A"/>
                </a:solidFill>
              </a:rPr>
              <a:t>Executive Strategic Briefing Drawer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Location &amp; Access: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Click the prominent 'Strategic Briefing' button on the top-right header to slide out a high-priority advisory tray.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39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Purpose &amp; Value: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Synthesizes urgent qualitative alerts for senior decision-makers, eliminating the need to search through 70+ survey 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</a:defRPr>
            </a:pPr>
            <a:r>
              <a:t>Priority Alert 1: TLM Deficit (Q95 &amp; Q178)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Exposes whether teachers lack physical kits or classroom preparation time to execute activity-based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</a:defRPr>
            </a:pPr>
            <a:r>
              <a:t>Priority Alert 2: Observer Blackouts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Surfaces clusters operating without registered BAC/CAC monitors, highlighting supervision gaps.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</a:defRPr>
            </a:pPr>
            <a:r>
              <a:t>Priority Alert 3: Hardware Gaps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Flags training centers lacking electricity or projection equipment required for digital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HEADLINE METRICS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Top Bento Scorecards: Core State Operational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BENTO RIBBON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84831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1938527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D9488"/>
                </a:solidFill>
              </a:defRPr>
            </a:pPr>
            <a:r>
              <a:t>DISTRICT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7452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100%</a:t>
            </a:r>
          </a:p>
          <a:p>
            <a:pPr>
              <a:defRPr sz="950" b="1">
                <a:solidFill>
                  <a:srgbClr val="0D9488"/>
                </a:solidFill>
              </a:defRPr>
            </a:pPr>
            <a:r>
              <a:t>52 / 52 Districts Active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Full state footprint across all 52 educational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371600"/>
            <a:ext cx="2084831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1444752"/>
            <a:ext cx="1938527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5536" y="1536192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ACTIVE VENUES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87452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2,972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3,014 Unique Clusters Reached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2,872 venues in Aug expanded to 2,972 in Sep.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371600"/>
            <a:ext cx="2084831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30368" y="1444752"/>
            <a:ext cx="1938527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1536192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UNIQUE TEACHERS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187452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33,866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49.49% State Cadre Reached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De-duplicated individual teachers trained.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371600"/>
            <a:ext cx="2084831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43216" y="1444752"/>
            <a:ext cx="1938527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2" y="1536192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t>DISTRICT ORIENTATION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187452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8,888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6,272 Unique Individuals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Total DO attendance across Aug and Sep.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371600"/>
            <a:ext cx="2084831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6064" y="1444752"/>
            <a:ext cx="1938527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536192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FACILITATOR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187452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60.2%</a:t>
            </a:r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t>2,896 Repeat Leads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6,658 total facilitators with strong continuity.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3822191"/>
            <a:ext cx="10582351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913631"/>
            <a:ext cx="1032631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INTERFACE PROOF • </a:t>
            </a:r>
            <a:r>
              <a:rPr sz="1250" b="1">
                <a:solidFill>
                  <a:srgbClr val="0D9488"/>
                </a:solidFill>
              </a:rPr>
              <a:t>Live Studio Telemetry Ribbon Capture</a:t>
            </a:r>
          </a:p>
        </p:txBody>
      </p:sp>
      <p:pic>
        <p:nvPicPr>
          <p:cNvPr id="30" name="Picture 29" descr="screenshot_kpi_debug_consoli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51960"/>
            <a:ext cx="10271455" cy="6419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1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1: Overview &amp; Summary — Turnout Rankings &amp; Stakeholder Mix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EXPLANATION • </a:t>
            </a:r>
            <a:r>
              <a:rPr sz="1250" b="1">
                <a:solidFill>
                  <a:srgbClr val="0D9488"/>
                </a:solidFill>
              </a:rPr>
              <a:t>Visual Typology &amp; Decision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Horizontal Ranking Bar Chart (Top Turnout):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Accommodates long district names cleanly while ranking performance from highest to lowest.</a:t>
            </a:r>
            <a:br/>
            <a:r>
              <a:t>Insight: Highlights benchmark districts (e.g., Alirajpur 87.2%, Datia 78.4%, Dindori 76.1%).</a:t>
            </a:r>
            <a:br/>
            <a:r>
              <a:t>Decision: Leadership can pair top-performing teams with lagging districts for peer learning.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Doughnut Chart (Cadre Composition):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Depicts proportions without center clutter.</a:t>
            </a:r>
            <a:br/>
            <a:r>
              <a:t>Insight: Confirms that the audience is composed of 88.4% frontline Teachers, 8.9% Facilitators, and 2.7% Observers.</a:t>
            </a:r>
            <a:br/>
            <a:r>
              <a:t>Decision: Ensures sessions remain teacher-centered rather than administrative inspections.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Trust &amp; Psychological Safety Gauges: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Instant visual benchmarking against 100% thresholds.</a:t>
            </a:r>
            <a:br/>
            <a:r>
              <a:t>Insight: Measures whether teachers feel comfortable voicing instructional challenges.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1 Interface)</a:t>
            </a:r>
          </a:p>
        </p:txBody>
      </p:sp>
      <p:pic>
        <p:nvPicPr>
          <p:cNvPr id="16" name="Picture 15" descr="01_Executive_Overview_and_KPI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10210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DIAGNOSTIC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1 (Cont): The 52-District Strategic Quadrant Scatter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QUADRANT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10582351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32631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METHODOLOGY • </a:t>
            </a:r>
            <a:r>
              <a:rPr sz="1250" b="1">
                <a:solidFill>
                  <a:srgbClr val="0D9488"/>
                </a:solidFill>
              </a:rPr>
              <a:t>Why a 2D Scatter Matrix Outperforms One-Dimensional Rankings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Simple rankings reward districts solely on attendance, masking whether teachers actually understand the material. The Strategic Quadrant plots Operational Turnout (X-Axis) against Pedagogical Understanding (Y-Axis), segmenting all 52 districts into 4 distinct action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5285232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542032"/>
            <a:ext cx="5138928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33472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QUADRANT 1: STATE CHAMPIONS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High Turnout (&gt;50%) &amp; High Pedagogical Quality (&gt;70%)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Exemplary implementation districts with strong attendance and deep pedagogical mastery.</a:t>
            </a:r>
            <a:br/>
            <a:r>
              <a:t>Action: Document local practices and designate as regional mentor hubs.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68880"/>
            <a:ext cx="5285232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5352" y="2542032"/>
            <a:ext cx="5138928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633472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QUADRANT 2: PROCESS-DRIVEN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High Turnout (&gt;50%) &amp; Low Pedagogical Quality (&lt;70%)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Strong administrative mobilization, but teachers struggle with core concepts.</a:t>
            </a:r>
            <a:br/>
            <a:r>
              <a:t>Action: Avoid administrative pressure; dispatch DIET mentors for facilitator coaching.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5285232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4599432"/>
            <a:ext cx="5138928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90872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t>QUADRANT 3: ACADEMIC ENCLAVES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Low Turnout (&lt;50%) &amp; High Pedagogical Quality (&gt;70%)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Teachers demonstrate strong comprehension, but overall attendance is low.</a:t>
            </a:r>
            <a:br/>
            <a:r>
              <a:t>Action: Issue administrative directives to improve school release and attendance.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526280"/>
            <a:ext cx="5285232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5352" y="4599432"/>
            <a:ext cx="5138928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690872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E11D48"/>
                </a:solidFill>
              </a:defRPr>
            </a:pPr>
            <a:r>
              <a:t>QUADRANT 4: CRITICAL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Low Turnout (&lt;50%) &amp; Low Pedagogical Quality (&lt;70%)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Districts lagging in both attendance and instructional understanding.</a:t>
            </a:r>
            <a:br/>
            <a:r>
              <a:t>Action: Immediate joint administrative and academic intervention by RSK directorate.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2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2: Key Goals &amp; Results Framework — Mobilization Funnel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RESULTS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FUNNEL &amp; FIDELITY • </a:t>
            </a:r>
            <a:r>
              <a:rPr sz="1250" b="1">
                <a:solidFill>
                  <a:srgbClr val="0D9488"/>
                </a:solidFill>
              </a:rPr>
              <a:t>Visual Typology &amp; Operational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Multi-Stage Mobilization Funnel: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Illustrates sequential drop-off from official HR records down to verified physical attendance.</a:t>
            </a:r>
            <a:br/>
            <a:r>
              <a:t>• Sanctioned Strength (68,427): Total approved middle school cadre.</a:t>
            </a:r>
            <a:br/>
            <a:r>
              <a:t>• Expected Active (48,000–52,000): Adjusts for vacancies, leaves, and deputations.</a:t>
            </a:r>
            <a:br/>
            <a:r>
              <a:t>• Unique Attendees (33,866): De-duplicated individual teachers trained.</a:t>
            </a:r>
            <a:br/>
            <a:r>
              <a:t>Decision: Distinguishes between vacant teacher posts and active teacher absenteeism.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Active Venue Saturation (2,972 Venues):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Progress bars tracking cluster activation.</a:t>
            </a:r>
            <a:br/>
            <a:r>
              <a:t>Insight: 3,014 unique physical clusters reached across both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Observer Presence Rate: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Quality certification bars.</a:t>
            </a:r>
            <a:br/>
            <a:r>
              <a:t>Insight: Measures the percentage of sessions verified by external DIET/CAC monitors.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2 Interface)</a:t>
            </a:r>
          </a:p>
        </p:txBody>
      </p:sp>
      <p:pic>
        <p:nvPicPr>
          <p:cNvPr id="16" name="Picture 15" descr="02_Results_Framework_7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75481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3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3: District 360 Profile — Radar Diagnostics &amp; Block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DISTRICT 360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MULTI-AXIAL DIAGNOSIS • </a:t>
            </a:r>
            <a:r>
              <a:rPr sz="1250" b="1">
                <a:solidFill>
                  <a:srgbClr val="0D9488"/>
                </a:solidFill>
              </a:rPr>
              <a:t>Diagnostic Visuals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Clustered Block Comparison Bar Chart: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Displays all blocks in the selected district side-by-side against district and state benchmarks.</a:t>
            </a:r>
            <a:br/>
            <a:r>
              <a:t>Insight: Exposes internal block disparities. A district averaging 55% may have one block at 85% and another at 22%.</a:t>
            </a:r>
            <a:br/>
            <a:r>
              <a:t>Decision: DPCs can focus administrative reviews on specific lagging blocks.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5-Axis Pedagogical Spider / Radar Chart: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Visualizes balance across 5 dimensions: TLM Usage, Error Culture, Lesson Design, Student Voice, and Assessment.</a:t>
            </a:r>
            <a:br/>
            <a:r>
              <a:t>Insight: A distorted shape pinpoints exact instructional gaps.</a:t>
            </a:r>
            <a:br/>
            <a:r>
              <a:t>Decision: DIET faculty can tailor academic inputs to the district's specific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Peer &amp; Gender Distribution Bars: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Insight: Ensures equitable teacher participation across cadres and genders.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3 Interface)</a:t>
            </a:r>
          </a:p>
        </p:txBody>
      </p:sp>
      <p:pic>
        <p:nvPicPr>
          <p:cNvPr id="16" name="Picture 15" descr="03_District_360_Deep_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10301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4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4: District Rankings — Interactive League Table &amp; Slicers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STATE LEAGUE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SORTABLE MATRIX • </a:t>
            </a:r>
            <a:r>
              <a:rPr sz="1250" b="1">
                <a:solidFill>
                  <a:srgbClr val="0D9488"/>
                </a:solidFill>
              </a:rPr>
              <a:t>Table Capabilities &amp; Dynamic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Multi-Column Sortable Data Table: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Provides full transparency across all 52 districts. Allows one-click sorting by Turnout %, Attendance, Active Venues, and Pedagogical Score.</a:t>
            </a:r>
            <a:br/>
            <a:r>
              <a:t>Status Badges: Green (&gt;65% turnout), Amber (40-65%), Red (&lt;40%).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Pre-Configured Focus Filters: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All 52 Districts: Statewide baseline.</a:t>
            </a:r>
            <a:br/>
            <a:r>
              <a:t>• Top 10 High Turnout: Benchmark districts (e.g., Alirajpur, Datia, Dindori) for recognition.</a:t>
            </a:r>
            <a:br/>
            <a:r>
              <a:t>• NITI Aspirational (8): Focus on designated transformation districts.</a:t>
            </a:r>
            <a:br/>
            <a:r>
              <a:t>• Data Deficit Focus: Highlights reporting delays.</a:t>
            </a:r>
            <a:br/>
            <a:r>
              <a:t>• Critical Blackouts: Districts under 35% attendance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Decision You Can Make: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Provides direct evidence for monthly review meetings with DPCs and Collectors.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4 Interface)</a:t>
            </a:r>
          </a:p>
        </p:txBody>
      </p:sp>
      <p:pic>
        <p:nvPicPr>
          <p:cNvPr id="16" name="Picture 15" descr="04_52_District_Strategic_Lea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3486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5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5: Block Directory — 322-Block Operational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SUB-DISTRICT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LOCAL ROSTER • </a:t>
            </a:r>
            <a:r>
              <a:rPr sz="1250" b="1">
                <a:solidFill>
                  <a:srgbClr val="0D9488"/>
                </a:solidFill>
              </a:rPr>
              <a:t>Granular Sub-District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The Need for Sub-District Telemetry: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Statewide and district averages often mask local execution issues. Tab 5 delivers an operational directory of all 322 educational blocks in MP, empowering BEOs and BACs to inspect local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Real-Time Search &amp; Lookup: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Type any block or district name into the search bar. The directory filters 322 records instantly without page reloads.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Cluster Activation Audits: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Shows active reporting clusters against total approved clusters in each block, flagging locations where scheduled sessions submitted zero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Decision You Can Make: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Allows BEOs to address specific logistical bottlenecks and transport issues in low-turnout clusters.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5 Interface)</a:t>
            </a:r>
          </a:p>
        </p:txBody>
      </p:sp>
      <p:pic>
        <p:nvPicPr>
          <p:cNvPr id="17" name="Picture 16" descr="05_Block_Level_Micro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40921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6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6: Survey Questions &amp; Psychometrics — 70+ Item Diagnostic Bank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QUESTION 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RESPONSE SPLIT • </a:t>
            </a:r>
            <a:r>
              <a:rPr sz="1250" b="1">
                <a:solidFill>
                  <a:srgbClr val="0D9488"/>
                </a:solidFill>
              </a:rPr>
              <a:t>Item-by-Item Psychometric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Stacked Proportion Distribution Bars: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Why Used: Each survey item has 3 to 4 multiple-choice options. Stacked distribution bars show the percentage split across responses in a compact visual.</a:t>
            </a:r>
            <a:br/>
            <a:r>
              <a:t>• Teal: Constructivist / Pedagogically Sound Option</a:t>
            </a:r>
            <a:br/>
            <a:r>
              <a:t>• Slate/Gray: Traditional / Passive Option</a:t>
            </a:r>
            <a:br/>
            <a:r>
              <a:t>• Red: Misconception / Distractor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Exhaustive Question Coverage: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Tracks 70+ evaluation items (Q82 to Q179) covering teacher confidence, TLM barriers, and lesson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Filtering by Domain &amp; Competency: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Filter by General Feedback, Classroom Observation, or Pedagogical Mindsets to isolate specific instructional themes.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Decision You Can Make: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Curriculum teams can see which survey questions had high error rates to revise training modules for subsequent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6 Interface)</a:t>
            </a:r>
          </a:p>
        </p:txBody>
      </p:sp>
      <p:pic>
        <p:nvPicPr>
          <p:cNvPr id="17" name="Picture 16" descr="06_Question_Bank_Item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7308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7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7: Teaching Quality — Misconception Case Studies (Q95, Q96, Q97)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PEDAGOGY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MISCONCEPTION AUDIT • </a:t>
            </a:r>
            <a:r>
              <a:rPr sz="1250" b="1">
                <a:solidFill>
                  <a:srgbClr val="0D9488"/>
                </a:solidFill>
              </a:rPr>
              <a:t>Diagnostic Breakdown of Core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Q95: TLM Integration Barriers: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The Diagnostic: Examines why teachers avoid physical teaching learning materials.</a:t>
            </a:r>
            <a:br/>
            <a:r>
              <a:t>The Insight: Teachers often cite syllabus pressure and lack of planning time rather than missing materials.</a:t>
            </a:r>
            <a:br/>
            <a:r>
              <a:t>Decision: Moves policy from simply distributing kits to embedding materials into lesson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Q96: Error Culture &amp; Psychological Safety: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The Diagnostic: Evaluates how teachers respond to student mistakes.</a:t>
            </a:r>
            <a:br/>
            <a:r>
              <a:t>The Insight: Tracks the shift from punitive correction toward viewing errors as learning opportunities.</a:t>
            </a:r>
            <a:br/>
            <a:r>
              <a:t>Decision: Focuses training on creating supportive classroom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Q97: Student Voice &amp; Belonging: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The Diagnostic: Measures participation equity across gender and ability.</a:t>
            </a:r>
            <a:br/>
            <a:r>
              <a:t>Decision: Directs teachers toward structured group work and cold-calling techniques.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Q177-Q179: Post-Training Application: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Tracks conversion of training concepts into regular classroom habits.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7 Interface)</a:t>
            </a:r>
          </a:p>
        </p:txBody>
      </p:sp>
      <p:pic>
        <p:nvPicPr>
          <p:cNvPr id="17" name="Picture 16" descr="07_Pedagogical_Transformation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87930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TAB 8 ARCHITECTURE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 8: Key Actions &amp; Governance — Administrative Directives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DIRECTIVES • </a:t>
            </a:r>
            <a:r>
              <a:rPr sz="1250" b="1">
                <a:solidFill>
                  <a:srgbClr val="0D9488"/>
                </a:solidFill>
              </a:rPr>
              <a:t>Accountability &amp; Escalation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Actionable Directives for Administrative Tiers: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Connects analytics directly to responsibilities for each administrative tier:</a:t>
            </a:r>
            <a:br/>
            <a:r>
              <a:t>• DPCs: Issue targeted review notices to blocks below 40% turnout.</a:t>
            </a:r>
            <a:br/>
            <a:r>
              <a:t>• BEOs: Verify cluster facilitator attendance and resolve local logistics.</a:t>
            </a:r>
            <a:br/>
            <a:r>
              <a:t>• DIET Mentors: Deploy to Quadrant 2 districts (High Turnout, Low Quality) to strengthen training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Operational Compliance Milestones: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Pre-Session (T-7): Finalize venue readiness and digital modules.</a:t>
            </a:r>
            <a:br/>
            <a:r>
              <a:t>• Session Day (Day 0): Live attendance and observer logging.</a:t>
            </a:r>
            <a:br/>
            <a:r>
              <a:t>• Post-Session (T+3): Complete psychometric submissions and resolve data gaps.</a:t>
            </a:r>
            <a:br/>
            <a:r>
              <a:t>• State Review (Monthly): Review progress with RSK leadership using Tab 4 (Rankings) and Tab 1 (Quadrant).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STUDIO VIEW • </a:t>
            </a:r>
            <a:r>
              <a:rPr sz="1250" b="1">
                <a:solidFill>
                  <a:srgbClr val="0F172A"/>
                </a:solidFill>
              </a:rPr>
              <a:t>Live Studio View (Tab 8 Interface)</a:t>
            </a:r>
          </a:p>
        </p:txBody>
      </p:sp>
      <p:pic>
        <p:nvPicPr>
          <p:cNvPr id="15" name="Picture 14" descr="08_Multi_Tier_Governanc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20784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ADVANCED MODULES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Tabs 9, 10 &amp; 11: AI Insights, Field Research &amp; Cohort Retention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ANALYTICS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0712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3264408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THEMATIC AI • </a:t>
            </a:r>
            <a:r>
              <a:rPr sz="1250" b="1">
                <a:solidFill>
                  <a:srgbClr val="0D9488"/>
                </a:solidFill>
              </a:rPr>
              <a:t>TAB 9: AI THEMATIC 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Visual Tool: Natural language topic clustering cards.</a:t>
            </a:r>
            <a:br/>
            <a:br/>
            <a:r>
              <a:t>What It Contains: Synthesizes open-text teacher feedback using AI thematic grouping.</a:t>
            </a:r>
            <a:br/>
            <a:br/>
            <a:r>
              <a:t>Key Insights: Surfaces recurring field themes including material shortages, scheduling needs, and peer exchanges.</a:t>
            </a:r>
            <a:br/>
            <a:br/>
            <a:r>
              <a:t>Decision: Highlights on-ground issues that structured survey options may overlook.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10712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444752"/>
            <a:ext cx="3264408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FIELD VOICES • </a:t>
            </a:r>
            <a:r>
              <a:rPr sz="1250" b="1">
                <a:solidFill>
                  <a:srgbClr val="0F172A"/>
                </a:solidFill>
              </a:rPr>
              <a:t>TAB 10: QUALITATIVE FIELD MONOGRAPH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Visual Tool: Case study logs and immersion records.</a:t>
            </a:r>
            <a:br/>
            <a:br/>
            <a:r>
              <a:t>What It Contains: Field observations from physical school visits and facilitator interviews across MP.</a:t>
            </a:r>
            <a:br/>
            <a:br/>
            <a:r>
              <a:t>Key Insights: Provides context behind low scores, such as multi-grade pressures and facility constraints.</a:t>
            </a:r>
            <a:br/>
            <a:br/>
            <a:r>
              <a:t>Decision: Adds qualitative context before taking administrative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10712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9872" y="1444752"/>
            <a:ext cx="3264408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36192"/>
            <a:ext cx="3008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COHORT RETENTION • </a:t>
            </a:r>
            <a:r>
              <a:rPr sz="1250" b="1">
                <a:solidFill>
                  <a:srgbClr val="0EA5E9"/>
                </a:solidFill>
              </a:rPr>
              <a:t>TAB 11: TEACHER COHORT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Visual Tool: 3-way cohort retention matrix.</a:t>
            </a:r>
            <a:br/>
            <a:br/>
            <a:r>
              <a:t>What It Contains: Verified breakdown of all 33,866 unique teachers reached:</a:t>
            </a:r>
            <a:br/>
            <a:r>
              <a:t>• 13,023 Persistent Core (attended both cycles)</a:t>
            </a:r>
            <a:br/>
            <a:r>
              <a:t>• 10,622 August-only attendees</a:t>
            </a:r>
            <a:br/>
            <a:r>
              <a:t>• 9,962 September-only new attendees</a:t>
            </a:r>
            <a:br/>
            <a:br/>
            <a:r>
              <a:t>Decision: Evaluates teacher retention across cycles and tracks onboarding of new schools.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DECISION RUNBOOK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Decision-Maker's Cheat Sheet: Which Chart to Use for Which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CHEAT SHEET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2926080"/>
                <a:gridCol w="2590495"/>
              </a:tblGrid>
              <a:tr h="71192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If Your Core Question Is: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Look at This Tab &amp; Chart: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What You Will Discover: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Action to Take: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Are we reaching enough teachers statewide?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Top Bento Cards &amp; Tab 2 Funnel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Cumulative unique reach (33,866) vs total sanctioned cadre (68,427).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Evaluate whether overall mobilization targets are on schedule.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Which districts require administrative escalation?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Tab 4: District Rankings (Filter: Critical Blackouts)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Districts below 35% attendance threshold.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Schedule targeted review calls with concerned DPCs.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Which districts need training quality support, not attendance pressure?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Tab 1: Strategic Quadrant (Quadrant 2: Process-Driven)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Districts with high turnout but low pedagogical scores.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Send DIET mentors to strengthen facilitator capabilities.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Why are teachers struggling within a specific district?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Tab 3: District Profile (5-Axis Radar Chart)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The district's specific weakness among the 5 competencies.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Provide targeted modules on that specific area.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Are teachers actually understanding child-centered pedagogy?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Tab 7: Teaching Quality (Misconceptions Benchmark)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Teacher response patterns on Q95, Q96, and Q97.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Refine next month's session plans to address root misconceptions.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Did we retain teachers or did a new group attend?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Tab 11: Teacher Cohorts &amp; Retention Matrix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Split of repeat attendees (13,023) vs single-cycle attendees.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Decide whether to run refresher sessions or repeat core modules.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5029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GOVERNANCE STANDARDS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Operational Best Practices, Data Lineage &amp;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48640"/>
            <a:ext cx="192024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PRACTICES • </a:t>
            </a:r>
            <a:r>
              <a:rPr sz="1250" b="1">
                <a:solidFill>
                  <a:srgbClr val="0D9488"/>
                </a:solidFill>
              </a:rPr>
              <a:t>How to Run Monthly Reviews Using the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Begin with the Consolidated View: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Start monthly reviews with the Consolidated view to assess cumulative state reach, then switch to the current month to evaluate immediate operational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Use the Strategic Quadrant to Set Agendas: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Avoid spending meeting time on Top Benchmark districts. Focus reviews on Quadrant 4 (Critical Support) and Quadrant 2 (Process-Driven).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79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Drill Down to Block Level During Inquiries: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When a DPC explains low attendance, open Tab 5 (Block Directory) to identify which specific blocks drove the shortfall.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Connect Data to Administrative Actions: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Conclude every review by referencing Tab 8 (Key Actions) to establish clear accountability and follow-up deadlines for field officers.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83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065776" cy="4837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AUDIT TRAIL • </a:t>
            </a:r>
            <a:r>
              <a:rPr sz="1250" b="1">
                <a:solidFill>
                  <a:srgbClr val="0F172A"/>
                </a:solidFill>
              </a:rPr>
              <a:t>Data Lineage &amp; Mathematical Audit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Source Data Reconciliation: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All metrics are calculated directly from official RSK Samwaad Google Forms and attendance registers, cross-verified with TPD baseline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Cadre Deduplication: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The 33,866 teacher reach figure is fully de-duplicated using unique teacher identifiers, ensuring repeat attendees are not double-counted.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69079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District Mapping Consistency: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The 3 newly formed districts (Mauganj, Maihar, Pandhurna) are mapped consistently to parent districts (Rewa, Satna, Chhindwara) to maintain longitudinal accuracy across 52 educational units.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206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Zero Server Dependency: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The standalone HTML file runs entirely client-side, ensuring complete data security and offline functionality during field visits.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